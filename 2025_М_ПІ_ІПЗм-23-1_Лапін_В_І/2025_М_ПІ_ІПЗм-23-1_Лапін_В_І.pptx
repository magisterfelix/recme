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8" r:id="rId12"/>
    <p:sldId id="269" r:id="rId13"/>
    <p:sldId id="270" r:id="rId14"/>
    <p:sldId id="263" r:id="rId15"/>
    <p:sldId id="264" r:id="rId16"/>
    <p:sldId id="271" r:id="rId17"/>
    <p:sldId id="272" r:id="rId18"/>
    <p:sldId id="273" r:id="rId19"/>
    <p:sldId id="266" r:id="rId20"/>
    <p:sldId id="267" r:id="rId21"/>
  </p:sldIdLst>
  <p:sldSz cx="9144000" cy="5143500" type="screen16x9"/>
  <p:notesSz cx="6858000" cy="9144000"/>
  <p:embeddedFontLst>
    <p:embeddedFont>
      <p:font typeface="Economica" panose="020B0604020202020204" charset="0"/>
      <p:regular r:id="rId23"/>
      <p:bold r:id="rId24"/>
      <p:italic r:id="rId25"/>
      <p:bold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38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B37F51E4-8023-7AC8-F69D-5E0F8AAF0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>
            <a:extLst>
              <a:ext uri="{FF2B5EF4-FFF2-40B4-BE49-F238E27FC236}">
                <a16:creationId xmlns:a16="http://schemas.microsoft.com/office/drawing/2014/main" id="{060BCDE2-30EF-771D-E56D-28FFB7488B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>
            <a:extLst>
              <a:ext uri="{FF2B5EF4-FFF2-40B4-BE49-F238E27FC236}">
                <a16:creationId xmlns:a16="http://schemas.microsoft.com/office/drawing/2014/main" id="{71051FA8-FCCB-5D13-C52A-6106B2AAB2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5332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74E1BBE1-F238-ECF7-10BF-B0345528E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>
            <a:extLst>
              <a:ext uri="{FF2B5EF4-FFF2-40B4-BE49-F238E27FC236}">
                <a16:creationId xmlns:a16="http://schemas.microsoft.com/office/drawing/2014/main" id="{0EC1B478-2ED2-DB4D-3C15-14A25398C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>
            <a:extLst>
              <a:ext uri="{FF2B5EF4-FFF2-40B4-BE49-F238E27FC236}">
                <a16:creationId xmlns:a16="http://schemas.microsoft.com/office/drawing/2014/main" id="{DAA31B11-2EC8-359C-0031-A5E8AC9508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59552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B45651E9-768B-8EEB-7585-14821880D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>
            <a:extLst>
              <a:ext uri="{FF2B5EF4-FFF2-40B4-BE49-F238E27FC236}">
                <a16:creationId xmlns:a16="http://schemas.microsoft.com/office/drawing/2014/main" id="{00A8416E-BD14-F99B-B262-8C7F7689E4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>
            <a:extLst>
              <a:ext uri="{FF2B5EF4-FFF2-40B4-BE49-F238E27FC236}">
                <a16:creationId xmlns:a16="http://schemas.microsoft.com/office/drawing/2014/main" id="{DC7D8938-316A-B1AF-BC0B-F00ED80204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6625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83D79FB6-6ED4-7141-FE16-5778318D5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F7ADBCF7-BD25-21F3-4906-B80B67590A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BD59852A-9B4E-6B4A-0D4D-9553DF5B7D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087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4F99023-8616-B7A3-46CC-B95239D9E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340542EA-55B5-9A1E-54B3-F60567606A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A925C242-FA88-7163-36BF-50C9F12A6B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90244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B18404F2-1604-CA66-A2F5-C142FF25F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20518D9A-C160-3977-0D13-1DDF2AF3C6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DD2B965C-A3D3-67E1-3152-9237069046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79808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16b2ada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16b2adad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jp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50" y="821300"/>
            <a:ext cx="3493750" cy="15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dirty="0"/>
              <a:t>Дослідження рекомендаційних систем вибору локацій для візиту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948250" y="3635125"/>
            <a:ext cx="5087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Лапін В.І., </a:t>
            </a:r>
            <a:r>
              <a:rPr lang="uk-UA"/>
              <a:t>ІПЗм-23-1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Науковий керівник: </a:t>
            </a:r>
            <a:r>
              <a:rPr lang="uk-UA"/>
              <a:t>доц</a:t>
            </a:r>
            <a:r>
              <a:rPr lang="uk-UA" dirty="0"/>
              <a:t>. Чуприна А.С.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13 червня 2025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Дослідження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91840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>
              <a:buNone/>
            </a:pPr>
            <a:r>
              <a:rPr lang="uk-UA" sz="1200" b="1" dirty="0"/>
              <a:t>Актуальність: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dirty="0"/>
              <a:t>зростаюча потреба у персоналізованих цифрових сервісах;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dirty="0"/>
              <a:t>обмеження традиційних рекомендаційних систем (низька адаптивність, ігнорування контексту);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dirty="0"/>
              <a:t>популярність систем рекомендацій у сфері туризму, мобільних застосунків та онлайн-сервісів.</a:t>
            </a:r>
          </a:p>
          <a:p>
            <a:pPr marL="450000" indent="-285750">
              <a:buFont typeface="Arial" panose="020B0604020202020204" pitchFamily="34" charset="0"/>
              <a:buChar char="•"/>
            </a:pPr>
            <a:endParaRPr lang="uk-UA" sz="1200" dirty="0"/>
          </a:p>
          <a:p>
            <a:pPr marL="0">
              <a:buNone/>
            </a:pPr>
            <a:r>
              <a:rPr lang="uk-UA" sz="1200" b="1" dirty="0"/>
              <a:t>Напрям </a:t>
            </a:r>
            <a:r>
              <a:rPr lang="uk-UA" sz="1200" dirty="0"/>
              <a:t>– розробка гібридної рекомендаційної системи, яка поєднує контентну, колаборативну та контекстно-залежну фільтрацію.</a:t>
            </a:r>
          </a:p>
          <a:p>
            <a:pPr marL="0">
              <a:buNone/>
            </a:pPr>
            <a:endParaRPr lang="uk-UA" sz="1200" dirty="0"/>
          </a:p>
          <a:p>
            <a:pPr marL="0">
              <a:buNone/>
            </a:pPr>
            <a:r>
              <a:rPr lang="uk-UA" sz="1200" b="1" dirty="0"/>
              <a:t>Об’єкт </a:t>
            </a:r>
            <a:r>
              <a:rPr lang="uk-UA" sz="1200" dirty="0"/>
              <a:t>– процес формування індивідуальних рекомендацій для вибору локацій, заснований на аналізі даних користувачів, характеристик локацій та поточних умов.</a:t>
            </a:r>
          </a:p>
          <a:p>
            <a:pPr marL="0">
              <a:buNone/>
            </a:pPr>
            <a:endParaRPr lang="uk-UA" sz="1200" dirty="0"/>
          </a:p>
          <a:p>
            <a:pPr marL="0">
              <a:buNone/>
            </a:pPr>
            <a:r>
              <a:rPr lang="uk-UA" sz="1200" b="1" dirty="0"/>
              <a:t>Мета </a:t>
            </a:r>
            <a:r>
              <a:rPr lang="uk-UA" sz="1200" dirty="0"/>
              <a:t>– розробка ефективного підходу до побудови інтелектуальної рекомендаційної системи для персоналізованого вибору локацій з урахуванням контексту.</a:t>
            </a: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"/>
            <a:ext cx="85206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uk" sz="3200" dirty="0"/>
              <a:t>Огляд літератури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89475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50000"/>
              </a:lnSpc>
              <a:buNone/>
            </a:pPr>
            <a:r>
              <a:rPr lang="uk-UA" sz="1400" b="1" dirty="0"/>
              <a:t>Основні джерела: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en-US" sz="1400" dirty="0"/>
              <a:t>A. Chaudhari, A. A. </a:t>
            </a:r>
            <a:r>
              <a:rPr lang="en-US" sz="1400" dirty="0" err="1"/>
              <a:t>Hitham</a:t>
            </a:r>
            <a:r>
              <a:rPr lang="en-US" sz="1400" dirty="0"/>
              <a:t> </a:t>
            </a:r>
            <a:r>
              <a:rPr lang="en-US" sz="1400" dirty="0" err="1"/>
              <a:t>Seddig</a:t>
            </a:r>
            <a:r>
              <a:rPr lang="en-US" sz="1400" dirty="0"/>
              <a:t>, A. </a:t>
            </a:r>
            <a:r>
              <a:rPr lang="en-US" sz="1400" dirty="0" err="1"/>
              <a:t>Sarlan</a:t>
            </a:r>
            <a:r>
              <a:rPr lang="en-US" sz="1400" dirty="0"/>
              <a:t> and R. Raut, "A Hybrid Recommendation System: A Review," in IEEE Access, vol. 12, pp. 157107-157126, 2024</a:t>
            </a:r>
            <a:r>
              <a:rPr lang="uk-UA" sz="1400" dirty="0"/>
              <a:t>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en-US" sz="1400" dirty="0"/>
              <a:t>K. A. </a:t>
            </a:r>
            <a:r>
              <a:rPr lang="en-US" sz="1400" dirty="0" err="1"/>
              <a:t>Fararni</a:t>
            </a:r>
            <a:r>
              <a:rPr lang="en-US" sz="1400" dirty="0"/>
              <a:t>, F. Nafis, B. Aghoutane, A. </a:t>
            </a:r>
            <a:r>
              <a:rPr lang="en-US" sz="1400" dirty="0" err="1"/>
              <a:t>Yahyaouy</a:t>
            </a:r>
            <a:r>
              <a:rPr lang="en-US" sz="1400" dirty="0"/>
              <a:t>, J. Riffi and A. Sabri, "Hybrid recommender system for tourism based on big data and AI: A conceptual framework," in Big Data Mining and Analytics, vol. 4, no. 1, pp. 47-55, March 2021</a:t>
            </a:r>
            <a:r>
              <a:rPr lang="uk-UA" sz="1400" dirty="0"/>
              <a:t>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en-US" sz="1400" dirty="0"/>
              <a:t>Z. Huang, C. Yu, J. Ni, H. Liu, C. Zeng and Y. Tang, "An Efficient Hybrid Recommendation Model With Deep Neural Networks," in IEEE Access, vol. 7, pp. 137900-137912, 2019</a:t>
            </a:r>
            <a:r>
              <a:rPr lang="uk-UA" sz="1400" dirty="0"/>
              <a:t>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en-US" sz="1400" dirty="0"/>
              <a:t>P. Yochum, L. Chang, T. Gu and M. Zhu, "Linked Open Data in Location-Based Recommendation System on Tourism Domain: A Survey," in IEEE Access, vol. 8, pp. 16409-16439, 2020</a:t>
            </a:r>
            <a:r>
              <a:rPr lang="uk-UA" sz="1400" dirty="0"/>
              <a:t>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en-US" sz="1400" dirty="0"/>
              <a:t>K. </a:t>
            </a:r>
            <a:r>
              <a:rPr lang="en-US" sz="1400" dirty="0" err="1"/>
              <a:t>Benabbes</a:t>
            </a:r>
            <a:r>
              <a:rPr lang="en-US" sz="1400" dirty="0"/>
              <a:t>, K. Housni, A. El </a:t>
            </a:r>
            <a:r>
              <a:rPr lang="en-US" sz="1400" dirty="0" err="1"/>
              <a:t>Mezouary</a:t>
            </a:r>
            <a:r>
              <a:rPr lang="en-US" sz="1400" dirty="0"/>
              <a:t> and A. </a:t>
            </a:r>
            <a:r>
              <a:rPr lang="en-US" sz="1400" dirty="0" err="1"/>
              <a:t>Zellou</a:t>
            </a:r>
            <a:r>
              <a:rPr lang="en-US" sz="1400" dirty="0"/>
              <a:t>, "Recommendation System Issues, Approaches and Challenges Based on User Reviews," in Journal of Web Engineering, vol. 21, no. 4, pp. 1017-1054, 2022</a:t>
            </a:r>
            <a:r>
              <a:rPr lang="uk-UA" sz="1400" dirty="0"/>
              <a:t>.</a:t>
            </a: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Постановка задачі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566508"/>
            <a:ext cx="4260300" cy="27029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buNone/>
            </a:pPr>
            <a:r>
              <a:rPr lang="uk-UA" sz="1200" b="1" noProof="0" dirty="0"/>
              <a:t>Поставлені задачі: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визначити структуру даних, необхідних для аналізу;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обґрунтувати вибір методів і алгоритмів;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спроєктувати архітектуру системи;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реалізувати та інтегрувати програмні компоненти;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провести експерименти та тестування для оцінки якості роботи системи.</a:t>
            </a: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4</a:t>
            </a:fld>
            <a:endParaRPr lang="uk-UA" noProof="0" dirty="0"/>
          </a:p>
        </p:txBody>
      </p:sp>
      <p:sp>
        <p:nvSpPr>
          <p:cNvPr id="4" name="Google Shape;86;p16">
            <a:extLst>
              <a:ext uri="{FF2B5EF4-FFF2-40B4-BE49-F238E27FC236}">
                <a16:creationId xmlns:a16="http://schemas.microsoft.com/office/drawing/2014/main" id="{828EE861-41FD-4319-D774-F6D032E29496}"/>
              </a:ext>
            </a:extLst>
          </p:cNvPr>
          <p:cNvSpPr txBox="1">
            <a:spLocks/>
          </p:cNvSpPr>
          <p:nvPr/>
        </p:nvSpPr>
        <p:spPr>
          <a:xfrm>
            <a:off x="4572000" y="1566508"/>
            <a:ext cx="4260300" cy="270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lnSpc>
                <a:spcPct val="150000"/>
              </a:lnSpc>
              <a:buFont typeface="Open Sans"/>
              <a:buNone/>
            </a:pPr>
            <a:r>
              <a:rPr lang="uk-UA" sz="1200" b="1" dirty="0"/>
              <a:t>Очікувані результати: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dirty="0"/>
              <a:t>створення гібридної рекомендаційної системи, що поєднує кілька методів фільтрації;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dirty="0"/>
              <a:t>забезпечення персоналізованих рекомендацій з урахуванням поточного контексту;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dirty="0"/>
              <a:t>підвищення точності, адаптивності та зручності використання системи.</a:t>
            </a:r>
          </a:p>
        </p:txBody>
      </p:sp>
      <p:sp>
        <p:nvSpPr>
          <p:cNvPr id="5" name="Google Shape;86;p16">
            <a:extLst>
              <a:ext uri="{FF2B5EF4-FFF2-40B4-BE49-F238E27FC236}">
                <a16:creationId xmlns:a16="http://schemas.microsoft.com/office/drawing/2014/main" id="{CC60E3A2-7B03-C468-4211-68515B6F6A96}"/>
              </a:ext>
            </a:extLst>
          </p:cNvPr>
          <p:cNvSpPr txBox="1">
            <a:spLocks/>
          </p:cNvSpPr>
          <p:nvPr/>
        </p:nvSpPr>
        <p:spPr>
          <a:xfrm>
            <a:off x="311700" y="825262"/>
            <a:ext cx="846654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lnSpc>
                <a:spcPct val="150000"/>
              </a:lnSpc>
              <a:buFont typeface="Open Sans"/>
              <a:buNone/>
            </a:pPr>
            <a:r>
              <a:rPr lang="uk-UA" sz="1200" b="1" dirty="0"/>
              <a:t>Формулювання проблеми</a:t>
            </a:r>
            <a:r>
              <a:rPr lang="uk-UA" sz="1200" dirty="0"/>
              <a:t> – існуючі рекомендаційні системи часто не враховують контекст, особисті фільтри користувача та мають проблеми з новими або малопопулярними локаціями.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Методологія </a:t>
            </a: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5</a:t>
            </a:fld>
            <a:endParaRPr lang="uk-UA" noProof="0" dirty="0"/>
          </a:p>
        </p:txBody>
      </p:sp>
      <p:sp>
        <p:nvSpPr>
          <p:cNvPr id="5" name="Google Shape;86;p16">
            <a:extLst>
              <a:ext uri="{FF2B5EF4-FFF2-40B4-BE49-F238E27FC236}">
                <a16:creationId xmlns:a16="http://schemas.microsoft.com/office/drawing/2014/main" id="{C46755CF-6069-0396-C528-96B060609C30}"/>
              </a:ext>
            </a:extLst>
          </p:cNvPr>
          <p:cNvSpPr txBox="1">
            <a:spLocks/>
          </p:cNvSpPr>
          <p:nvPr/>
        </p:nvSpPr>
        <p:spPr>
          <a:xfrm>
            <a:off x="311700" y="826561"/>
            <a:ext cx="3740755" cy="315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lnSpc>
                <a:spcPct val="150000"/>
              </a:lnSpc>
              <a:buFont typeface="Open Sans"/>
              <a:buNone/>
            </a:pPr>
            <a:r>
              <a:rPr lang="uk-UA" sz="1200" b="1" noProof="0" dirty="0"/>
              <a:t>Використані методи дослідження: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теоретичний аналіз наукових джерел;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системний підхід до формалізації задач;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математичне моделювання процесу рекомендацій;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експериментальне моделювання;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комп</a:t>
            </a:r>
            <a:r>
              <a:rPr lang="uk-UA" sz="1200" dirty="0"/>
              <a:t>’</a:t>
            </a:r>
            <a:r>
              <a:rPr lang="uk-UA" sz="1200" noProof="0" dirty="0" err="1"/>
              <a:t>ютерне</a:t>
            </a:r>
            <a:r>
              <a:rPr lang="uk-UA" sz="1200" noProof="0" dirty="0"/>
              <a:t> моделювання з використанням машинного навчання.</a:t>
            </a:r>
          </a:p>
        </p:txBody>
      </p:sp>
      <p:sp>
        <p:nvSpPr>
          <p:cNvPr id="6" name="Google Shape;86;p16">
            <a:extLst>
              <a:ext uri="{FF2B5EF4-FFF2-40B4-BE49-F238E27FC236}">
                <a16:creationId xmlns:a16="http://schemas.microsoft.com/office/drawing/2014/main" id="{073AB89A-2231-4FCA-6CFF-03592A480B12}"/>
              </a:ext>
            </a:extLst>
          </p:cNvPr>
          <p:cNvSpPr txBox="1">
            <a:spLocks/>
          </p:cNvSpPr>
          <p:nvPr/>
        </p:nvSpPr>
        <p:spPr>
          <a:xfrm>
            <a:off x="4572000" y="826561"/>
            <a:ext cx="4260300" cy="315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uk-UA" sz="1200" b="1" noProof="0" dirty="0"/>
              <a:t>Інструменти та технології: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en-US" sz="1200" noProof="0" dirty="0" err="1"/>
              <a:t>PyTorch</a:t>
            </a:r>
            <a:r>
              <a:rPr lang="uk-UA" sz="1200" noProof="0" dirty="0"/>
              <a:t> – реалізація моделі; 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en-US" sz="1200" noProof="0" dirty="0"/>
              <a:t>pandas, NumPy </a:t>
            </a:r>
            <a:r>
              <a:rPr lang="uk-UA" sz="1200" noProof="0" dirty="0"/>
              <a:t>– обробка даних;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en-US" sz="1200" noProof="0" dirty="0"/>
              <a:t>scikit-learn</a:t>
            </a:r>
            <a:r>
              <a:rPr lang="uk-UA" sz="1200" noProof="0" dirty="0"/>
              <a:t> – векторизація, PCA, метрики; 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en-US" sz="1200" noProof="0" dirty="0"/>
              <a:t>matplotlib, seaborn </a:t>
            </a:r>
            <a:r>
              <a:rPr lang="uk-UA" sz="1200" noProof="0" dirty="0"/>
              <a:t>– візуалізація результатів;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en-US" sz="1200" noProof="0" dirty="0"/>
              <a:t>Google Local Dataset </a:t>
            </a:r>
            <a:r>
              <a:rPr lang="uk-UA" sz="1200" noProof="0" dirty="0"/>
              <a:t>– джерело даних</a:t>
            </a:r>
            <a:r>
              <a:rPr lang="en-US" sz="1200" dirty="0"/>
              <a:t>.</a:t>
            </a:r>
            <a:endParaRPr lang="uk-UA" sz="1200" noProof="0" dirty="0"/>
          </a:p>
        </p:txBody>
      </p:sp>
      <p:pic>
        <p:nvPicPr>
          <p:cNvPr id="2050" name="Picture 2" descr="torch · PyPI">
            <a:extLst>
              <a:ext uri="{FF2B5EF4-FFF2-40B4-BE49-F238E27FC236}">
                <a16:creationId xmlns:a16="http://schemas.microsoft.com/office/drawing/2014/main" id="{102971CE-6CEB-E644-5318-FC354FB4B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178" y="4214011"/>
            <a:ext cx="2549236" cy="509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andas (software) - Wikipedia">
            <a:extLst>
              <a:ext uri="{FF2B5EF4-FFF2-40B4-BE49-F238E27FC236}">
                <a16:creationId xmlns:a16="http://schemas.microsoft.com/office/drawing/2014/main" id="{D0921D4D-A056-5919-86D5-9043F0CED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474" y="3193470"/>
            <a:ext cx="2298989" cy="933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AA03EA15-B6C3-85ED-790D-6B3DB381F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985" y="2401906"/>
            <a:ext cx="2212528" cy="99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9A5C8B78-F6BA-3598-2CE7-798D6E09D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917" y="2787360"/>
            <a:ext cx="1561134" cy="842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Customising figures in Matplotlib">
            <a:extLst>
              <a:ext uri="{FF2B5EF4-FFF2-40B4-BE49-F238E27FC236}">
                <a16:creationId xmlns:a16="http://schemas.microsoft.com/office/drawing/2014/main" id="{00469B09-8F6E-6F9D-7844-5475E2D9F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985" y="3892142"/>
            <a:ext cx="2677391" cy="89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0" name="Picture 32" descr="Seaborn icon - Free Download PNG &amp; SVG | Streamline">
            <a:extLst>
              <a:ext uri="{FF2B5EF4-FFF2-40B4-BE49-F238E27FC236}">
                <a16:creationId xmlns:a16="http://schemas.microsoft.com/office/drawing/2014/main" id="{4B5EAABF-4416-785A-6EAD-4EB832E2C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9027" y="3277087"/>
            <a:ext cx="1637039" cy="1637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2" name="Picture 34" descr="Логотип Google — Википедия">
            <a:extLst>
              <a:ext uri="{FF2B5EF4-FFF2-40B4-BE49-F238E27FC236}">
                <a16:creationId xmlns:a16="http://schemas.microsoft.com/office/drawing/2014/main" id="{026DCDAD-F1FE-A4CE-65FE-F51499E4C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17" y="3277087"/>
            <a:ext cx="1870364" cy="634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систем</a:t>
            </a:r>
            <a:r>
              <a:rPr lang="uk-UA" sz="3200" dirty="0"/>
              <a:t>и</a:t>
            </a:r>
            <a:r>
              <a:rPr lang="uk" sz="3200" dirty="0"/>
              <a:t> для проведення експериментального дослідження</a:t>
            </a:r>
            <a:endParaRPr sz="32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5" name="Рисунок 4" descr="Зображення, що містить знімок екрана, схема, ряд, текст&#10;&#10;Автоматично згенерований опис">
            <a:extLst>
              <a:ext uri="{FF2B5EF4-FFF2-40B4-BE49-F238E27FC236}">
                <a16:creationId xmlns:a16="http://schemas.microsoft.com/office/drawing/2014/main" id="{27578AFB-6DC9-6347-4D86-DE078E37D8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739" y="1344180"/>
            <a:ext cx="5766522" cy="285272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054435-692F-EC6B-15FE-3849A0544214}"/>
              </a:ext>
            </a:extLst>
          </p:cNvPr>
          <p:cNvSpPr txBox="1"/>
          <p:nvPr/>
        </p:nvSpPr>
        <p:spPr>
          <a:xfrm>
            <a:off x="1688739" y="4196907"/>
            <a:ext cx="57665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10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Схема роботи гібридної рекомендаційної системи</a:t>
            </a:r>
            <a:endParaRPr lang="uk-UA" sz="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Опис програмного забезпечення, що було використано у дослідженні</a:t>
            </a: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7</a:t>
            </a:fld>
            <a:endParaRPr lang="uk-UA" noProof="0" dirty="0"/>
          </a:p>
        </p:txBody>
      </p:sp>
      <p:sp>
        <p:nvSpPr>
          <p:cNvPr id="7" name="Google Shape;86;p16">
            <a:extLst>
              <a:ext uri="{FF2B5EF4-FFF2-40B4-BE49-F238E27FC236}">
                <a16:creationId xmlns:a16="http://schemas.microsoft.com/office/drawing/2014/main" id="{E66E6CE3-FBAE-CF78-04F1-79C3BEF5DA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33844"/>
            <a:ext cx="4828336" cy="25506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50000"/>
              </a:lnSpc>
              <a:buFont typeface="Open Sans"/>
              <a:buNone/>
            </a:pPr>
            <a:r>
              <a:rPr lang="uk-UA" sz="1200" b="1" noProof="0" dirty="0"/>
              <a:t>Процес розробки: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проєктування клієнт-серверної архітектури;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реалізація окремих модулів (інтерфейс, API, база даних);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тестування функціональності та точності моделі;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інтеграція компонентів у єдину систему.</a:t>
            </a:r>
          </a:p>
        </p:txBody>
      </p:sp>
      <p:sp>
        <p:nvSpPr>
          <p:cNvPr id="8" name="Google Shape;86;p16">
            <a:extLst>
              <a:ext uri="{FF2B5EF4-FFF2-40B4-BE49-F238E27FC236}">
                <a16:creationId xmlns:a16="http://schemas.microsoft.com/office/drawing/2014/main" id="{C4F405C9-AE0B-962F-1C4B-257480D6F73B}"/>
              </a:ext>
            </a:extLst>
          </p:cNvPr>
          <p:cNvSpPr txBox="1">
            <a:spLocks/>
          </p:cNvSpPr>
          <p:nvPr/>
        </p:nvSpPr>
        <p:spPr>
          <a:xfrm>
            <a:off x="5077691" y="1235438"/>
            <a:ext cx="3754609" cy="254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lnSpc>
                <a:spcPct val="150000"/>
              </a:lnSpc>
              <a:buFont typeface="Open Sans"/>
              <a:buNone/>
            </a:pPr>
            <a:r>
              <a:rPr lang="uk-UA" sz="1200" b="1" noProof="0" dirty="0"/>
              <a:t>Використані технології: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клієнтська частина – </a:t>
            </a:r>
            <a:r>
              <a:rPr lang="en-US" sz="1200" noProof="0" dirty="0"/>
              <a:t>TypeScript, React;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серверна частина – </a:t>
            </a:r>
            <a:r>
              <a:rPr lang="en-US" sz="1200" noProof="0" dirty="0"/>
              <a:t>Python, Django;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бази даних – </a:t>
            </a:r>
            <a:r>
              <a:rPr lang="en-US" sz="1200" noProof="0" dirty="0"/>
              <a:t>PostgreSQL, SQLite;</a:t>
            </a:r>
            <a:endParaRPr lang="uk-UA" sz="1200" noProof="0" dirty="0"/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редактор коду – </a:t>
            </a:r>
            <a:r>
              <a:rPr lang="en-US" sz="1200" noProof="0" dirty="0"/>
              <a:t>Visual Studio Code;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середовище розробки – </a:t>
            </a:r>
            <a:r>
              <a:rPr lang="en-US" sz="1200" noProof="0" dirty="0"/>
              <a:t>GIT, Linux.</a:t>
            </a:r>
            <a:endParaRPr lang="uk-UA" sz="1200" noProof="0" dirty="0"/>
          </a:p>
        </p:txBody>
      </p:sp>
      <p:pic>
        <p:nvPicPr>
          <p:cNvPr id="3076" name="Picture 4" descr="Python (32-bit) for Windows - Free download and software reviews - CNET  Download">
            <a:extLst>
              <a:ext uri="{FF2B5EF4-FFF2-40B4-BE49-F238E27FC236}">
                <a16:creationId xmlns:a16="http://schemas.microsoft.com/office/drawing/2014/main" id="{6C86343D-4F76-D5F5-7F50-BB727C300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2642" y="3032199"/>
            <a:ext cx="835484" cy="835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Django logo and symbol, meaning, history, PNG">
            <a:extLst>
              <a:ext uri="{FF2B5EF4-FFF2-40B4-BE49-F238E27FC236}">
                <a16:creationId xmlns:a16="http://schemas.microsoft.com/office/drawing/2014/main" id="{09654263-9A0E-3BE0-7FBE-BF9B5209A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575" y="3957827"/>
            <a:ext cx="1731459" cy="108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4A96F788-8A2B-56BF-70E7-6F47DBA25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58" y="3188045"/>
            <a:ext cx="699789" cy="699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7B357B90-C446-F9E6-F9A2-8746CF1A2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078" y="2992313"/>
            <a:ext cx="832488" cy="740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>
            <a:extLst>
              <a:ext uri="{FF2B5EF4-FFF2-40B4-BE49-F238E27FC236}">
                <a16:creationId xmlns:a16="http://schemas.microsoft.com/office/drawing/2014/main" id="{7FD49D80-0B72-960F-E3FE-814FCECCF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4904" y="4056567"/>
            <a:ext cx="868974" cy="89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>
            <a:extLst>
              <a:ext uri="{FF2B5EF4-FFF2-40B4-BE49-F238E27FC236}">
                <a16:creationId xmlns:a16="http://schemas.microsoft.com/office/drawing/2014/main" id="{4C8B3AAD-87DB-FDAC-0FCF-8119C0E46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401" y="3038441"/>
            <a:ext cx="2098533" cy="99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Visual Studio Code — Википедия">
            <a:extLst>
              <a:ext uri="{FF2B5EF4-FFF2-40B4-BE49-F238E27FC236}">
                <a16:creationId xmlns:a16="http://schemas.microsoft.com/office/drawing/2014/main" id="{0F6EAD08-56ED-9FB6-DA43-064630DDE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4668" y="4133377"/>
            <a:ext cx="830900" cy="83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>
            <a:extLst>
              <a:ext uri="{FF2B5EF4-FFF2-40B4-BE49-F238E27FC236}">
                <a16:creationId xmlns:a16="http://schemas.microsoft.com/office/drawing/2014/main" id="{CB604267-CC31-07B2-0BD2-6E7C531C7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152" y="3174351"/>
            <a:ext cx="992795" cy="99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 descr="Linux — Википедия">
            <a:extLst>
              <a:ext uri="{FF2B5EF4-FFF2-40B4-BE49-F238E27FC236}">
                <a16:creationId xmlns:a16="http://schemas.microsoft.com/office/drawing/2014/main" id="{C8F516D5-CFAF-B5A5-C4A8-1E6F3896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2257" y="3867683"/>
            <a:ext cx="765750" cy="90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E79B26B3-59BF-6853-9179-9F60D1381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>
            <a:extLst>
              <a:ext uri="{FF2B5EF4-FFF2-40B4-BE49-F238E27FC236}">
                <a16:creationId xmlns:a16="http://schemas.microsoft.com/office/drawing/2014/main" id="{13C6F9C8-127E-7DD2-0964-0B148A0D16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Моделювання програмного забезпечення</a:t>
            </a:r>
          </a:p>
        </p:txBody>
      </p:sp>
      <p:pic>
        <p:nvPicPr>
          <p:cNvPr id="108" name="Google Shape;108;p19">
            <a:extLst>
              <a:ext uri="{FF2B5EF4-FFF2-40B4-BE49-F238E27FC236}">
                <a16:creationId xmlns:a16="http://schemas.microsoft.com/office/drawing/2014/main" id="{D79FFD36-E50A-CE15-5B2D-8FBA010DD3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06535C-F395-4C3E-A6A1-A05956B072A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8</a:t>
            </a:fld>
            <a:endParaRPr lang="uk-UA" noProof="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CB8078-4AAC-7710-96E7-8578E7F38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950" y="1084653"/>
            <a:ext cx="5290099" cy="297419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08699E-78AC-25DE-5BC5-AC5FDE82B297}"/>
              </a:ext>
            </a:extLst>
          </p:cNvPr>
          <p:cNvSpPr txBox="1"/>
          <p:nvPr/>
        </p:nvSpPr>
        <p:spPr>
          <a:xfrm>
            <a:off x="2459182" y="4058847"/>
            <a:ext cx="475786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UML </a:t>
            </a:r>
            <a:r>
              <a:rPr lang="uk-UA" sz="10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діаграма прецедентів користувачів</a:t>
            </a:r>
            <a:endParaRPr lang="uk-UA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230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9EB4F7C4-B67C-29DF-50D3-097474B6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>
            <a:extLst>
              <a:ext uri="{FF2B5EF4-FFF2-40B4-BE49-F238E27FC236}">
                <a16:creationId xmlns:a16="http://schemas.microsoft.com/office/drawing/2014/main" id="{36D11131-8BF3-0C72-5CC6-C07BC8DD91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Архітектура програмного забезпечення</a:t>
            </a:r>
          </a:p>
        </p:txBody>
      </p:sp>
      <p:pic>
        <p:nvPicPr>
          <p:cNvPr id="108" name="Google Shape;108;p19">
            <a:extLst>
              <a:ext uri="{FF2B5EF4-FFF2-40B4-BE49-F238E27FC236}">
                <a16:creationId xmlns:a16="http://schemas.microsoft.com/office/drawing/2014/main" id="{F9DA57BB-66EE-EDA1-6AF5-6B132CC7ED9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EE4556-2CDB-B916-89B2-13B9ECCEEB3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9</a:t>
            </a:fld>
            <a:endParaRPr lang="uk-UA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6C7A43-003B-4A33-F555-CA3BCCF38C10}"/>
              </a:ext>
            </a:extLst>
          </p:cNvPr>
          <p:cNvSpPr txBox="1"/>
          <p:nvPr/>
        </p:nvSpPr>
        <p:spPr>
          <a:xfrm>
            <a:off x="1438275" y="3674271"/>
            <a:ext cx="62674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UML </a:t>
            </a:r>
            <a:r>
              <a:rPr lang="uk-UA" sz="10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діаграма </a:t>
            </a:r>
            <a:r>
              <a:rPr lang="uk-UA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розгортання</a:t>
            </a:r>
            <a:endParaRPr lang="uk-UA" sz="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Рисунок 3" descr="Зображення, що містить текст, знімок екрана, Шрифт, схема&#10;&#10;Автоматично згенерований опис">
            <a:extLst>
              <a:ext uri="{FF2B5EF4-FFF2-40B4-BE49-F238E27FC236}">
                <a16:creationId xmlns:a16="http://schemas.microsoft.com/office/drawing/2014/main" id="{322FBB64-8E81-A425-BDD4-681858147B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275" y="1270308"/>
            <a:ext cx="6267450" cy="2409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7750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20124754-0A49-FE91-4192-D69E0FA1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>
            <a:extLst>
              <a:ext uri="{FF2B5EF4-FFF2-40B4-BE49-F238E27FC236}">
                <a16:creationId xmlns:a16="http://schemas.microsoft.com/office/drawing/2014/main" id="{2BFCFEC9-769F-3AF3-BBEA-EE8AA306F7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8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Структура зберігання даних</a:t>
            </a:r>
          </a:p>
        </p:txBody>
      </p:sp>
      <p:pic>
        <p:nvPicPr>
          <p:cNvPr id="108" name="Google Shape;108;p19">
            <a:extLst>
              <a:ext uri="{FF2B5EF4-FFF2-40B4-BE49-F238E27FC236}">
                <a16:creationId xmlns:a16="http://schemas.microsoft.com/office/drawing/2014/main" id="{E393AD00-B6D2-848E-915B-4F9E80F7344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F90A6D-32E6-31A6-760A-03A8B5C6C6CE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10</a:t>
            </a:fld>
            <a:endParaRPr lang="uk-UA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A04921-4BC6-C90D-CCF7-9E92D359F42A}"/>
              </a:ext>
            </a:extLst>
          </p:cNvPr>
          <p:cNvSpPr txBox="1"/>
          <p:nvPr/>
        </p:nvSpPr>
        <p:spPr>
          <a:xfrm>
            <a:off x="2700119" y="4360128"/>
            <a:ext cx="37437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ER-</a:t>
            </a:r>
            <a:r>
              <a:rPr lang="uk-UA" sz="10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діаграма структури бази даних</a:t>
            </a:r>
            <a:endParaRPr lang="uk-UA" sz="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69E7DE-D5DF-3988-1F71-3CB697B99B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120" y="990179"/>
            <a:ext cx="3743759" cy="33699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2228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Зміст проведених експериментів</a:t>
            </a: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11</a:t>
            </a:fld>
            <a:endParaRPr lang="uk-UA" noProof="0" dirty="0"/>
          </a:p>
        </p:txBody>
      </p:sp>
      <p:sp>
        <p:nvSpPr>
          <p:cNvPr id="5" name="Google Shape;86;p16">
            <a:extLst>
              <a:ext uri="{FF2B5EF4-FFF2-40B4-BE49-F238E27FC236}">
                <a16:creationId xmlns:a16="http://schemas.microsoft.com/office/drawing/2014/main" id="{C26927F9-F8D2-2507-C431-84F667C9CD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722168"/>
            <a:ext cx="3526009" cy="1855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50000"/>
              </a:lnSpc>
              <a:buFont typeface="Open Sans"/>
              <a:buNone/>
            </a:pPr>
            <a:r>
              <a:rPr lang="uk-UA" sz="1200" b="1" noProof="0" dirty="0"/>
              <a:t>Методи: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експериментальне моделювання;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класифікація результатів за допомогою нейронної мережі;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контрольоване тестування на заздалегідь підготовлених сценаріях.</a:t>
            </a:r>
          </a:p>
        </p:txBody>
      </p:sp>
      <p:sp>
        <p:nvSpPr>
          <p:cNvPr id="9" name="Google Shape;86;p16">
            <a:extLst>
              <a:ext uri="{FF2B5EF4-FFF2-40B4-BE49-F238E27FC236}">
                <a16:creationId xmlns:a16="http://schemas.microsoft.com/office/drawing/2014/main" id="{1224FA2A-8DA8-4EF2-D519-8883E3037F99}"/>
              </a:ext>
            </a:extLst>
          </p:cNvPr>
          <p:cNvSpPr txBox="1">
            <a:spLocks/>
          </p:cNvSpPr>
          <p:nvPr/>
        </p:nvSpPr>
        <p:spPr>
          <a:xfrm>
            <a:off x="3841163" y="716703"/>
            <a:ext cx="2930264" cy="1855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lnSpc>
                <a:spcPct val="150000"/>
              </a:lnSpc>
              <a:buFont typeface="Open Sans"/>
              <a:buNone/>
            </a:pPr>
            <a:r>
              <a:rPr lang="uk-UA" sz="1200" b="1" noProof="0" dirty="0"/>
              <a:t>Вхідні дані: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категорія локації;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рейтинг;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кількість відгуків; 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фільтри користувача;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контекстуальні фактори.</a:t>
            </a:r>
          </a:p>
        </p:txBody>
      </p:sp>
      <p:sp>
        <p:nvSpPr>
          <p:cNvPr id="10" name="Google Shape;86;p16">
            <a:extLst>
              <a:ext uri="{FF2B5EF4-FFF2-40B4-BE49-F238E27FC236}">
                <a16:creationId xmlns:a16="http://schemas.microsoft.com/office/drawing/2014/main" id="{FA32BA6A-F25A-98C8-EDD6-FB335F1CAE61}"/>
              </a:ext>
            </a:extLst>
          </p:cNvPr>
          <p:cNvSpPr txBox="1">
            <a:spLocks/>
          </p:cNvSpPr>
          <p:nvPr/>
        </p:nvSpPr>
        <p:spPr>
          <a:xfrm>
            <a:off x="6429868" y="711238"/>
            <a:ext cx="2348373" cy="1855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lnSpc>
                <a:spcPct val="150000"/>
              </a:lnSpc>
              <a:buFont typeface="Open Sans"/>
              <a:buNone/>
            </a:pPr>
            <a:r>
              <a:rPr lang="uk-UA" sz="1200" b="1" noProof="0" dirty="0"/>
              <a:t>Критерії ефективності: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en-US" sz="1200" noProof="0" dirty="0"/>
              <a:t>Accuracy;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en-US" sz="1200" noProof="0" dirty="0"/>
              <a:t>F1-score; 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en-US" sz="1200" noProof="0" dirty="0"/>
              <a:t>AUC-ROC</a:t>
            </a:r>
            <a:r>
              <a:rPr lang="uk-UA" sz="1200" noProof="0" dirty="0"/>
              <a:t> </a:t>
            </a:r>
            <a:r>
              <a:rPr lang="en-US" sz="1200" dirty="0"/>
              <a:t>curve</a:t>
            </a:r>
            <a:r>
              <a:rPr lang="en-US" sz="1200" noProof="0" dirty="0"/>
              <a:t>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en-US" sz="1200" noProof="0" dirty="0"/>
              <a:t>Confusion matrix.</a:t>
            </a:r>
          </a:p>
        </p:txBody>
      </p:sp>
      <p:sp>
        <p:nvSpPr>
          <p:cNvPr id="11" name="Google Shape;86;p16">
            <a:extLst>
              <a:ext uri="{FF2B5EF4-FFF2-40B4-BE49-F238E27FC236}">
                <a16:creationId xmlns:a16="http://schemas.microsoft.com/office/drawing/2014/main" id="{74D8B734-85C0-AC66-A52F-A6887E611235}"/>
              </a:ext>
            </a:extLst>
          </p:cNvPr>
          <p:cNvSpPr txBox="1">
            <a:spLocks/>
          </p:cNvSpPr>
          <p:nvPr/>
        </p:nvSpPr>
        <p:spPr>
          <a:xfrm>
            <a:off x="311700" y="2471511"/>
            <a:ext cx="8520600" cy="1003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lnSpc>
                <a:spcPct val="150000"/>
              </a:lnSpc>
              <a:buFont typeface="Open Sans"/>
              <a:buNone/>
            </a:pPr>
            <a:r>
              <a:rPr lang="uk-UA" sz="1200" b="1" dirty="0"/>
              <a:t>Послідовність:</a:t>
            </a:r>
            <a:r>
              <a:rPr lang="uk-UA" sz="1200" dirty="0"/>
              <a:t> </a:t>
            </a:r>
          </a:p>
          <a:p>
            <a:pPr marL="0" indent="0">
              <a:lnSpc>
                <a:spcPct val="150000"/>
              </a:lnSpc>
              <a:buFont typeface="Open Sans"/>
              <a:buNone/>
            </a:pPr>
            <a:r>
              <a:rPr lang="uk-UA" sz="1200" dirty="0"/>
              <a:t>Побудова тестових сценаріїв → формування вхідних даних → генерація рекомендацій → аналіз відповідності очікуваним результатам.</a:t>
            </a:r>
          </a:p>
        </p:txBody>
      </p:sp>
      <p:sp>
        <p:nvSpPr>
          <p:cNvPr id="12" name="Google Shape;86;p16">
            <a:extLst>
              <a:ext uri="{FF2B5EF4-FFF2-40B4-BE49-F238E27FC236}">
                <a16:creationId xmlns:a16="http://schemas.microsoft.com/office/drawing/2014/main" id="{D36A4402-0FCF-D432-D893-5E87C15CDE16}"/>
              </a:ext>
            </a:extLst>
          </p:cNvPr>
          <p:cNvSpPr txBox="1">
            <a:spLocks/>
          </p:cNvSpPr>
          <p:nvPr/>
        </p:nvSpPr>
        <p:spPr>
          <a:xfrm>
            <a:off x="311700" y="3312458"/>
            <a:ext cx="8520600" cy="1003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lnSpc>
                <a:spcPct val="150000"/>
              </a:lnSpc>
              <a:buFont typeface="Open Sans"/>
              <a:buNone/>
            </a:pPr>
            <a:r>
              <a:rPr lang="uk-UA" sz="1200" b="1" dirty="0"/>
              <a:t>Вимірювання:</a:t>
            </a:r>
            <a:r>
              <a:rPr lang="uk-UA" sz="1200" dirty="0"/>
              <a:t> </a:t>
            </a:r>
          </a:p>
          <a:p>
            <a:pPr marL="0" indent="0">
              <a:lnSpc>
                <a:spcPct val="150000"/>
              </a:lnSpc>
              <a:buFont typeface="Open Sans"/>
              <a:buNone/>
            </a:pPr>
            <a:r>
              <a:rPr lang="uk-UA" sz="1200" noProof="0" dirty="0"/>
              <a:t>Автоматичне порівняння очікуваної та фактичної класифікації, побудова метрик для кожного сценарію та візуалізація результатів у вигляді графіків.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Результати експериментів 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A28033-9F60-41D9-82E2-91A7127711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60" y="1414612"/>
            <a:ext cx="3919631" cy="220920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64CE7CD-2A55-6984-A98D-E9C0E5E45F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9036" y="1414613"/>
            <a:ext cx="3919104" cy="220920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19068F-9BEB-D34F-1025-A350D1015E9E}"/>
              </a:ext>
            </a:extLst>
          </p:cNvPr>
          <p:cNvSpPr txBox="1"/>
          <p:nvPr/>
        </p:nvSpPr>
        <p:spPr>
          <a:xfrm>
            <a:off x="455960" y="3623815"/>
            <a:ext cx="39196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Accuracy 27 </a:t>
            </a:r>
            <a:r>
              <a:rPr lang="uk-UA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різних моделей</a:t>
            </a:r>
            <a:endParaRPr lang="uk-UA" sz="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71386-4C1E-EAB9-8652-EBD5D11908D9}"/>
              </a:ext>
            </a:extLst>
          </p:cNvPr>
          <p:cNvSpPr txBox="1"/>
          <p:nvPr/>
        </p:nvSpPr>
        <p:spPr>
          <a:xfrm>
            <a:off x="4759036" y="3623815"/>
            <a:ext cx="39196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F1-score 27 </a:t>
            </a:r>
            <a:r>
              <a:rPr lang="uk-UA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різних моделей </a:t>
            </a:r>
            <a:endParaRPr lang="uk-UA" sz="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95946618-BBB9-475B-D48B-63BA334CD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6FF74E-E1A0-59BD-39EC-82DE64F0F0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61" y="1413988"/>
            <a:ext cx="3919104" cy="220886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76CEE42-5BD1-7C68-0EDE-204A735272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411" y="1413989"/>
            <a:ext cx="3919105" cy="220854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9F2248F9-45E4-D9CB-42F6-4F7ABC6FB2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Результати експериментів </a:t>
            </a:r>
            <a:endParaRPr sz="3200" dirty="0"/>
          </a:p>
        </p:txBody>
      </p:sp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5A05F52F-9D5D-D92E-82C6-B9892322B76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16B101-59D4-7332-1C64-8FE2231EA2C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4BA781-994F-BDC2-CD18-1D129B004F6B}"/>
              </a:ext>
            </a:extLst>
          </p:cNvPr>
          <p:cNvSpPr txBox="1"/>
          <p:nvPr/>
        </p:nvSpPr>
        <p:spPr>
          <a:xfrm>
            <a:off x="455960" y="3623815"/>
            <a:ext cx="39196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Accuracy </a:t>
            </a:r>
            <a:r>
              <a:rPr lang="uk-UA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 найкращих моделей </a:t>
            </a:r>
            <a:endParaRPr lang="uk-UA" sz="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241E7C-F962-2C28-1ADC-C6994A292357}"/>
              </a:ext>
            </a:extLst>
          </p:cNvPr>
          <p:cNvSpPr txBox="1"/>
          <p:nvPr/>
        </p:nvSpPr>
        <p:spPr>
          <a:xfrm>
            <a:off x="4759036" y="3623815"/>
            <a:ext cx="39196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F1-score </a:t>
            </a:r>
            <a:r>
              <a:rPr lang="uk-UA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 найкращих моделей </a:t>
            </a:r>
            <a:endParaRPr lang="uk-UA" sz="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3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79FE25AA-756E-F014-643E-E3A95CAE5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8D08D7-81F7-CCA3-476B-5768669281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238" y="1415000"/>
            <a:ext cx="3903429" cy="220021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C00536-CBEC-F76B-C79B-7CF9A6550D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61" y="1412712"/>
            <a:ext cx="3919104" cy="220861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08D35407-D87A-48F3-D6D2-5B1C4EEC6F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отриманих результатів </a:t>
            </a:r>
            <a:endParaRPr sz="3200" dirty="0"/>
          </a:p>
        </p:txBody>
      </p:sp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19DC0CE0-AA91-ED39-81BE-937D5CFF0C6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2707F8-07FF-313B-53A4-24C11000C418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14</a:t>
            </a:fld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1B3FFB-6863-0603-22B8-39AC6D39D487}"/>
              </a:ext>
            </a:extLst>
          </p:cNvPr>
          <p:cNvSpPr txBox="1"/>
          <p:nvPr/>
        </p:nvSpPr>
        <p:spPr>
          <a:xfrm>
            <a:off x="455960" y="3623815"/>
            <a:ext cx="39196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Графік втрат</a:t>
            </a:r>
            <a:endParaRPr lang="uk-UA" sz="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92B988-F24A-F859-453A-182BEB95F11B}"/>
              </a:ext>
            </a:extLst>
          </p:cNvPr>
          <p:cNvSpPr txBox="1"/>
          <p:nvPr/>
        </p:nvSpPr>
        <p:spPr>
          <a:xfrm>
            <a:off x="4759036" y="3623815"/>
            <a:ext cx="39196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Графік точності</a:t>
            </a:r>
            <a:endParaRPr lang="uk-UA" sz="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533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1305B4EB-0006-9908-0379-5ABFA44E9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9DCC7AE3-AFD7-BDCA-3DFE-132BA81EED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отриманих результатів </a:t>
            </a:r>
            <a:endParaRPr sz="3200" dirty="0"/>
          </a:p>
        </p:txBody>
      </p:sp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E40E78A3-2EC2-F461-6310-31FE0C328E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4EBAEA-606B-095E-95D0-6F4226B6B02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15</a:t>
            </a:fld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7BA98C-2F93-987D-8B89-4E421E3092E7}"/>
              </a:ext>
            </a:extLst>
          </p:cNvPr>
          <p:cNvSpPr txBox="1"/>
          <p:nvPr/>
        </p:nvSpPr>
        <p:spPr>
          <a:xfrm>
            <a:off x="863731" y="3623815"/>
            <a:ext cx="31035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AUC-ROC curve</a:t>
            </a:r>
            <a:endParaRPr lang="uk-UA" sz="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613CAC-C9C0-7281-AAF6-E769C64E2454}"/>
              </a:ext>
            </a:extLst>
          </p:cNvPr>
          <p:cNvSpPr txBox="1"/>
          <p:nvPr/>
        </p:nvSpPr>
        <p:spPr>
          <a:xfrm>
            <a:off x="5176707" y="3623815"/>
            <a:ext cx="30735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Confusion matrix</a:t>
            </a:r>
            <a:endParaRPr lang="uk-UA" sz="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C1129C-6E44-5C37-3A2B-1D7E4B1B28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31" y="1410223"/>
            <a:ext cx="3103564" cy="220861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16262A0-CF9D-6A4B-42CE-F3C8A4C0FC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445" y="1410223"/>
            <a:ext cx="3062812" cy="220021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64776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268925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Публікація результатів </a:t>
            </a:r>
            <a:endParaRPr sz="3200" dirty="0"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37761" y="948686"/>
            <a:ext cx="5085991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uk-UA" sz="1200" b="1" dirty="0"/>
              <a:t>Стаття на тему: </a:t>
            </a:r>
          </a:p>
          <a:p>
            <a:pPr marL="0" indent="0">
              <a:buNone/>
            </a:pPr>
            <a:r>
              <a:rPr lang="uk-UA" sz="1200" dirty="0"/>
              <a:t>«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Hybrid Approach in Developing a Recommendation System for Personalized Selection of Locations for a Visit</a:t>
            </a:r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</a:t>
            </a:r>
          </a:p>
          <a:p>
            <a:pPr marL="0" indent="0">
              <a:buNone/>
            </a:pPr>
            <a:endParaRPr lang="uk-UA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uk-UA" sz="1200" b="1" dirty="0"/>
              <a:t>Була представлена на: </a:t>
            </a:r>
          </a:p>
          <a:p>
            <a:pPr marL="0" indent="0">
              <a:buNone/>
            </a:pPr>
            <a:r>
              <a:rPr lang="en-US" sz="1200" dirty="0"/>
              <a:t>9th Open International Conference "Electrical, Electronic and Information Sciences" </a:t>
            </a:r>
            <a:r>
              <a:rPr lang="en-US" sz="1200" noProof="0" dirty="0"/>
              <a:t>eStream</a:t>
            </a:r>
            <a:r>
              <a:rPr lang="en-US" sz="1200" dirty="0"/>
              <a:t> 2025</a:t>
            </a:r>
            <a:r>
              <a:rPr lang="uk-UA" sz="1200" dirty="0"/>
              <a:t>, формат </a:t>
            </a:r>
            <a:r>
              <a:rPr lang="en-US" sz="1200" dirty="0"/>
              <a:t>IEEE.</a:t>
            </a:r>
            <a:endParaRPr sz="1200" dirty="0">
              <a:latin typeface="Economica" panose="020B0604020202020204" charset="0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B10B47-7B7A-16D3-B2F7-7BCD981C8FD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16</a:t>
            </a:fld>
            <a:endParaRPr lang="uk-UA" dirty="0"/>
          </a:p>
        </p:txBody>
      </p:sp>
      <p:pic>
        <p:nvPicPr>
          <p:cNvPr id="13316" name="Picture 4" descr="About - IEEE Entrepreneurship">
            <a:extLst>
              <a:ext uri="{FF2B5EF4-FFF2-40B4-BE49-F238E27FC236}">
                <a16:creationId xmlns:a16="http://schemas.microsoft.com/office/drawing/2014/main" id="{E6A1E546-1C2C-7193-1424-7060A7B74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979" y="3127929"/>
            <a:ext cx="1855596" cy="61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 descr="Зображення, що містить текст, Шрифт, знімок екрана, чорно-білий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1820E5A2-2387-DBC3-B729-DC24636AE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466" y="645024"/>
            <a:ext cx="2741852" cy="35482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BBE844-6610-C251-F21F-F4A48BA33110}"/>
              </a:ext>
            </a:extLst>
          </p:cNvPr>
          <p:cNvSpPr txBox="1"/>
          <p:nvPr/>
        </p:nvSpPr>
        <p:spPr>
          <a:xfrm>
            <a:off x="5440466" y="4193303"/>
            <a:ext cx="27418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Hybrid Approach in Developing a Recommendation System for Personalized Selection of Locations for a Visit</a:t>
            </a:r>
            <a:endParaRPr lang="uk-UA" sz="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3318" name="Picture 6">
            <a:extLst>
              <a:ext uri="{FF2B5EF4-FFF2-40B4-BE49-F238E27FC236}">
                <a16:creationId xmlns:a16="http://schemas.microsoft.com/office/drawing/2014/main" id="{AF8888EA-8423-8DCC-3766-9262C81AD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50" y="3127929"/>
            <a:ext cx="1792801" cy="61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6991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Підсумки 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17</a:t>
            </a:fld>
            <a:endParaRPr lang="uk-UA" noProof="0" dirty="0"/>
          </a:p>
        </p:txBody>
      </p:sp>
      <p:sp>
        <p:nvSpPr>
          <p:cNvPr id="6" name="Google Shape;72;p14">
            <a:extLst>
              <a:ext uri="{FF2B5EF4-FFF2-40B4-BE49-F238E27FC236}">
                <a16:creationId xmlns:a16="http://schemas.microsoft.com/office/drawing/2014/main" id="{EF8F6445-180A-0310-1B7D-BE5973C890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718393"/>
            <a:ext cx="8520600" cy="37067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>
              <a:buNone/>
            </a:pPr>
            <a:r>
              <a:rPr lang="uk-UA" sz="1200" b="1" noProof="0" dirty="0"/>
              <a:t>Результати дослідження: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досягнута висока точність класифікації та ефективність моделі;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успішна інтеграція контекстних факторів у процес рекомендацій;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адаптивність системи до змінних умов.</a:t>
            </a:r>
          </a:p>
          <a:p>
            <a:pPr marL="223200" indent="0">
              <a:lnSpc>
                <a:spcPct val="150000"/>
              </a:lnSpc>
              <a:buNone/>
            </a:pPr>
            <a:endParaRPr lang="uk-UA" sz="1200" noProof="0" dirty="0"/>
          </a:p>
          <a:p>
            <a:pPr marL="0">
              <a:buNone/>
            </a:pPr>
            <a:r>
              <a:rPr lang="uk-UA" sz="1200" b="1" noProof="0" dirty="0"/>
              <a:t>Практична значущість: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покращення релевантності рекомендацій у реальних сценаріях;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застосування у сервісах туристичного та міського призначення;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гнучка архітектура для масштабування на інші типи об'єктів.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endParaRPr lang="uk-UA" sz="1200" noProof="0" dirty="0"/>
          </a:p>
          <a:p>
            <a:pPr marL="0">
              <a:buNone/>
            </a:pPr>
            <a:r>
              <a:rPr lang="uk-UA" sz="1200" b="1" noProof="0" dirty="0"/>
              <a:t>Подальший розвиток: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розширення контекстних параметрів та фільтрів;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впровадження персоналізованих рекомендацій на основі довготривалого профілю користувача;</a:t>
            </a:r>
          </a:p>
          <a:p>
            <a:pPr marL="450000" indent="-226800">
              <a:lnSpc>
                <a:spcPct val="150000"/>
              </a:lnSpc>
              <a:buFontTx/>
              <a:buChar char="-"/>
            </a:pPr>
            <a:r>
              <a:rPr lang="uk-UA" sz="1200" noProof="0" dirty="0"/>
              <a:t>оптимізація нейронної мережі для зменшення обчислювальних витрат та підвищення швидкодії.</a:t>
            </a:r>
          </a:p>
          <a:p>
            <a:pPr marL="223200" indent="0">
              <a:lnSpc>
                <a:spcPct val="150000"/>
              </a:lnSpc>
              <a:buNone/>
            </a:pPr>
            <a:endParaRPr lang="uk-UA" sz="12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2" id="{0E3422D2-66DD-48A8-92AD-38892F6C1A30}" vid="{81CCDA4E-A18F-4826-B11D-205FC05A076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4F4D1BC81621C4AA293CA3F6D8D9F5B" ma:contentTypeVersion="8" ma:contentTypeDescription="Створення нового документа." ma:contentTypeScope="" ma:versionID="4578f23956c73338454b37ab823cbeb8">
  <xsd:schema xmlns:xsd="http://www.w3.org/2001/XMLSchema" xmlns:xs="http://www.w3.org/2001/XMLSchema" xmlns:p="http://schemas.microsoft.com/office/2006/metadata/properties" xmlns:ns3="93dcf9d5-016b-48c8-a3a6-6c9a6208dd4f" xmlns:ns4="da313137-2cf1-4ab7-8298-287423865884" targetNamespace="http://schemas.microsoft.com/office/2006/metadata/properties" ma:root="true" ma:fieldsID="4425041590c38ee24b7dcf082edbc647" ns3:_="" ns4:_="">
    <xsd:import namespace="93dcf9d5-016b-48c8-a3a6-6c9a6208dd4f"/>
    <xsd:import namespace="da313137-2cf1-4ab7-8298-28742386588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dcf9d5-016b-48c8-a3a6-6c9a6208dd4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Спільний доступ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Відомості про тих, хто має доступ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Геш підказки про спільний доступ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313137-2cf1-4ab7-8298-2874238658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A23F58-4B2F-45D2-A248-196E689DE2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dcf9d5-016b-48c8-a3a6-6c9a6208dd4f"/>
    <ds:schemaRef ds:uri="da313137-2cf1-4ab7-8298-2874238658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6C6262-E5F5-4DE0-AEA6-40162AFBE0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A479E6-66EE-4B32-BB18-94FA8A29D166}">
  <ds:schemaRefs>
    <ds:schemaRef ds:uri="da313137-2cf1-4ab7-8298-287423865884"/>
    <ds:schemaRef ds:uri="http://schemas.microsoft.com/office/2006/documentManagement/types"/>
    <ds:schemaRef ds:uri="http://purl.org/dc/dcmitype/"/>
    <ds:schemaRef ds:uri="93dcf9d5-016b-48c8-a3a6-6c9a6208dd4f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Шаблон презентації квал роб маг</Template>
  <TotalTime>223</TotalTime>
  <Words>928</Words>
  <Application>Microsoft Office PowerPoint</Application>
  <PresentationFormat>Екран (16:9)</PresentationFormat>
  <Paragraphs>140</Paragraphs>
  <Slides>17</Slides>
  <Notes>17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17</vt:i4>
      </vt:variant>
    </vt:vector>
  </HeadingPairs>
  <TitlesOfParts>
    <vt:vector size="21" baseType="lpstr">
      <vt:lpstr>Open Sans</vt:lpstr>
      <vt:lpstr>Arial</vt:lpstr>
      <vt:lpstr>Economica</vt:lpstr>
      <vt:lpstr>Luxe</vt:lpstr>
      <vt:lpstr>Дослідження рекомендаційних систем вибору локацій для візиту</vt:lpstr>
      <vt:lpstr>Дослідження</vt:lpstr>
      <vt:lpstr>Огляд літератури</vt:lpstr>
      <vt:lpstr>Постановка задачі</vt:lpstr>
      <vt:lpstr>Методологія </vt:lpstr>
      <vt:lpstr>Архітектура системи для проведення експериментального дослідження</vt:lpstr>
      <vt:lpstr>Опис програмного забезпечення, що було використано у дослідженні</vt:lpstr>
      <vt:lpstr>Моделювання програмного забезпечення</vt:lpstr>
      <vt:lpstr>Архітектура програмного забезпечення</vt:lpstr>
      <vt:lpstr>Структура зберігання даних</vt:lpstr>
      <vt:lpstr>Зміст проведених експериментів</vt:lpstr>
      <vt:lpstr>Результати експериментів </vt:lpstr>
      <vt:lpstr>Результати експериментів </vt:lpstr>
      <vt:lpstr>Аналіз отриманих результатів </vt:lpstr>
      <vt:lpstr>Аналіз отриманих результатів </vt:lpstr>
      <vt:lpstr>Публікація результатів 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Лапін Владислав</dc:creator>
  <cp:lastModifiedBy>Лапін Владислав</cp:lastModifiedBy>
  <cp:revision>163</cp:revision>
  <dcterms:created xsi:type="dcterms:W3CDTF">2025-06-01T09:35:12Z</dcterms:created>
  <dcterms:modified xsi:type="dcterms:W3CDTF">2025-06-05T07:31:16Z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0x01010074F4D1BC81621C4AA293CA3F6D8D9F5B</vt:lpwstr>
  </property>
</Properties>
</file>